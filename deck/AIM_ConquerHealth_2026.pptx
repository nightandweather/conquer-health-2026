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HealthBench 점수</c:v>
                </c:pt>
              </c:strCache>
            </c:strRef>
          </c:tx>
          <c:spPr>
            <a:solidFill>
              <a:srgbClr val="127A8C"/>
            </a:solidFill>
            <a:ln w="38100" cap="flat">
              <a:solidFill>
                <a:srgbClr val="127A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3C49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27A8C"/>
              </a:solidFill>
              <a:ln w="9525" cap="flat">
                <a:solidFill>
                  <a:srgbClr val="127A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Trial 7</c:v>
                  </c:pt>
                  <c:pt idx="1">
                    <c:v>Trial 8</c:v>
                  </c:pt>
                  <c:pt idx="2">
                    <c:v>Trial 16</c:v>
                  </c:pt>
                  <c:pt idx="3">
                    <c:v>Trial 19</c:v>
                  </c:pt>
                  <c:pt idx="4">
                    <c:v>Trial 22</c:v>
                  </c:pt>
                  <c:pt idx="5">
                    <c:v>Trial 25</c:v>
                  </c:pt>
                  <c:pt idx="6">
                    <c:v>Trial 43</c:v>
                  </c:pt>
                  <c:pt idx="7">
                    <c:v>Trial 49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23.57</c:v>
                </c:pt>
                <c:pt idx="1">
                  <c:v>29.13</c:v>
                </c:pt>
                <c:pt idx="2">
                  <c:v>32.44</c:v>
                </c:pt>
                <c:pt idx="3">
                  <c:v>39.26</c:v>
                </c:pt>
                <c:pt idx="4">
                  <c:v>43.07</c:v>
                </c:pt>
                <c:pt idx="5">
                  <c:v>49.72</c:v>
                </c:pt>
                <c:pt idx="6">
                  <c:v>51.16</c:v>
                </c:pt>
                <c:pt idx="7">
                  <c:v>52.88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B3C49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6"/>
          <c:min val="20"/>
        </c:scaling>
        <c:delete val="0"/>
        <c:axPos val="l"/>
        <c:majorGridlines>
          <c:spPr>
            <a:ln w="12700" cap="flat">
              <a:solidFill>
                <a:srgbClr val="E3EA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획득률</c:v>
                </c:pt>
              </c:strCache>
            </c:strRef>
          </c:tx>
          <c:spPr>
            <a:solidFill>
              <a:srgbClr val="127A8C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B3C4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27A8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27A8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F476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B6B7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5B6B72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완전성</c:v>
                  </c:pt>
                  <c:pt idx="1">
                    <c:v>정확성</c:v>
                  </c:pt>
                  <c:pt idx="2">
                    <c:v>맥락인지</c:v>
                  </c:pt>
                  <c:pt idx="3">
                    <c:v>의사소통</c:v>
                  </c:pt>
                  <c:pt idx="4">
                    <c:v>지시순응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45.2</c:v>
                </c:pt>
                <c:pt idx="1">
                  <c:v>44</c:v>
                </c:pt>
                <c:pt idx="2">
                  <c:v>35.6</c:v>
                </c:pt>
                <c:pt idx="3">
                  <c:v>63.3</c:v>
                </c:pt>
                <c:pt idx="4">
                  <c:v>70.6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0B3C4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2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</c:scaling>
        <c:delete val="0"/>
        <c:axPos val="l"/>
        <c:majorGridlines>
          <c:spPr>
            <a:ln w="12700" cap="flat">
              <a:solidFill>
                <a:srgbClr val="E3EA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Lunit L2(30B/A5B MoE) 기반 대국민 건강상담 챗봇. HealthBench Consensus 자동채점에서 참가 18팀 중 1위.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Trial 번호는 대시보드 제출 순번. 8번의 유효 제출로 20.4점 상승.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초기 풀 파이프라인(분류·검색·DUR·응급게이트)이 23.57점. 전부 걷어낸 raw 패스스루가 32.44점.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변경 모두 아키텍처가 아니라 API 호출 파라미터·프롬프트 위치.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Trial 7·8·13이 모두 system 프롬프트. Trial 22에서 user 턴으로 옮겨 43.07 달성.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CoEval 설정 파일도 max_tokens 6144를 기본으로 쓴다: thinking이 생성 문자의 34-59%.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기각 근거를 문서로 남겨 팀원이 같은 길을 다시 파지 않게 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val은 test와 테마 구성·기준 구조가 맞춰져 있어 비편향 추정치. 특정 문항 최적화는 설계상 자기 처벌.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감점 기준 1,039개 중 최대 배점들이 Fails to ... 형태. 짧게 쓰면 오히려 깎인다.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CoEval 문서도 n=500에서 sd 0.011, 약 3점 이내는 통계적 동률이라고 명시.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ANSWER_INSTRUCTION: 진료 권유로 답을 대체하지 말고 아는 범위에서 답할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연구실 단위로 3개 팀을 낸 참가자를 4인 팀이 이겼다. 차이는 인원이 아니라 측정 공유였다.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감사합니다.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051560"/>
            <a:ext cx="2286000" cy="384048"/>
          </a:xfrm>
          <a:prstGeom prst="roundRect">
            <a:avLst>
              <a:gd name="adj" fmla="val 47619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515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벤치마크 상 · 1위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HealthBench 52.88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FC2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의과학 특화 파운데이션 모델을 20.4점 끌어올린 방법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5806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A6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Conquer Health 해커톤 · 2026.08.21–22 · 팀 AIM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61447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89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박주희 · 박지우 · 안균승 · 이장원 · 이강훈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C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32.44 → 52.88 · 참가 18팀 중 1위 · 2위와 2.61점 차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37360"/>
          <a:ext cx="74066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321040" y="1737360"/>
            <a:ext cx="3200400" cy="4297680"/>
          </a:xfrm>
          <a:prstGeom prst="roundRect">
            <a:avLst>
              <a:gd name="adj" fmla="val 2286"/>
            </a:avLst>
          </a:prstGeom>
          <a:solidFill>
            <a:srgbClr val="F1F5F6"/>
          </a:solidFill>
          <a:ln w="12700">
            <a:solidFill>
              <a:srgbClr val="F1F5F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95360" y="1920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리더보드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458200" y="2304288"/>
            <a:ext cx="2926080" cy="566928"/>
          </a:xfrm>
          <a:prstGeom prst="roundRect">
            <a:avLst>
              <a:gd name="adj" fmla="val 9677"/>
            </a:avLst>
          </a:prstGeom>
          <a:solidFill>
            <a:srgbClr val="E4F7F0"/>
          </a:solidFill>
          <a:ln w="12700">
            <a:solidFill>
              <a:srgbClr val="E4F7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95360" y="237744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915400" y="23774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AIM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515600" y="237744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2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52.88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595360" y="3035808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915400" y="303580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창억떡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515600" y="3035808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50.27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595360" y="3694176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915400" y="3694176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daintlab-C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515600" y="3694176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49.77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595360" y="4352544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915400" y="4352544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만능의아스피린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0515600" y="4352544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49.30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595360" y="5010912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915400" y="501091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Tricare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0515600" y="5010912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48.88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동안 배운 한 가지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더한 것은 전부 점수를 깎았고,</a:t>
            </a:r>
            <a:endParaRPr lang="en-US" sz="32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올린 것은 전부 호출 방식이었다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3931920"/>
            <a:ext cx="5120640" cy="1920240"/>
          </a:xfrm>
          <a:prstGeom prst="roundRect">
            <a:avLst>
              <a:gd name="adj" fmla="val 4762"/>
            </a:avLst>
          </a:prstGeom>
          <a:solidFill>
            <a:srgbClr val="14505F"/>
          </a:solidFill>
          <a:ln w="12700">
            <a:solidFill>
              <a:srgbClr val="1450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구조를 더함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45720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2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· 분류기 · 응급게이트 · 다중호출 · 외부화 CoT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5349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F47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전부 마이너스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309360" y="3931920"/>
            <a:ext cx="5120640" cy="1920240"/>
          </a:xfrm>
          <a:prstGeom prst="roundRect">
            <a:avLst>
              <a:gd name="adj" fmla="val 4762"/>
            </a:avLst>
          </a:prstGeom>
          <a:solidFill>
            <a:srgbClr val="14505F"/>
          </a:solidFill>
          <a:ln w="12700">
            <a:solidFill>
              <a:srgbClr val="1450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2940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 방식을 바꿈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29400" y="45720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2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temperature · 지시 위치 · thinking 예산 · 출력 예산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29400" y="5349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D6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+20.4점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C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점수를 만든 네 가지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전부 코드 한 줄 수준의 변경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1F5F6"/>
          </a:solidFill>
          <a:ln w="12700">
            <a:solidFill>
              <a:srgbClr val="F1F5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0116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+6.8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377440" y="207568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temperature: 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269748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B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기본값(~1.0)으로 채점받고 있었다.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B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rubric 438개 중 143개가 사실 정확성.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178308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1F5F6"/>
          </a:solidFill>
          <a:ln w="12700">
            <a:solidFill>
              <a:srgbClr val="F1F5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29400" y="20116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+3.8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046720" y="207568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지시를 user 턴에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29400" y="269748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B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메시지는 L2가 읽지 않는다.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B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문장을 위치만 옮김.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0233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1F5F6"/>
          </a:solidFill>
          <a:ln w="12700">
            <a:solidFill>
              <a:srgbClr val="F1F5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42519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+6.7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377440" y="431596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thinking ON + fallback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493776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B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추론은 끄는 게 아니라 지키는 것.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B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손상된 것만 되살린다.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40233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1F5F6"/>
          </a:solidFill>
          <a:ln w="12700">
            <a:solidFill>
              <a:srgbClr val="F1F5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9400" y="42519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+1.5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046720" y="431596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max_tokens 6144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29400" y="493776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B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2048 상한은 우리가 건 족쇄였다.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B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엔드포인트는 8192까지 받는다.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C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발견 ① L2는 system 메시지를 읽지 않는다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지시를 위치만 바꿔 40문항씩 측정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지시: "Do not use emoji." · 측정: 답변에 이모지가 남은 비율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6858000" cy="621792"/>
          </a:xfrm>
          <a:prstGeom prst="roundRect">
            <a:avLst>
              <a:gd name="adj" fmla="val 11765"/>
            </a:avLst>
          </a:prstGeom>
          <a:solidFill>
            <a:srgbClr val="F1F5F6"/>
          </a:solidFill>
          <a:ln w="12700">
            <a:solidFill>
              <a:srgbClr val="F1F5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31343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3C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 없음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383280" y="231343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40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84632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971800"/>
            <a:ext cx="6858000" cy="621792"/>
          </a:xfrm>
          <a:prstGeom prst="roundRect">
            <a:avLst>
              <a:gd name="adj" fmla="val 11765"/>
            </a:avLst>
          </a:prstGeom>
          <a:solidFill>
            <a:srgbClr val="F1F5F6"/>
          </a:solidFill>
          <a:ln w="12700">
            <a:solidFill>
              <a:srgbClr val="F1F5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0906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3C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메시지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309067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40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46320" y="3108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47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 없음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749040"/>
            <a:ext cx="6858000" cy="621792"/>
          </a:xfrm>
          <a:prstGeom prst="roundRect">
            <a:avLst>
              <a:gd name="adj" fmla="val 11765"/>
            </a:avLst>
          </a:prstGeom>
          <a:solidFill>
            <a:srgbClr val="F1F5F6"/>
          </a:solidFill>
          <a:ln w="12700">
            <a:solidFill>
              <a:srgbClr val="F1F5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86791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3C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 턴 앞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83280" y="386791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40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46320" y="3886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526280"/>
            <a:ext cx="6858000" cy="621792"/>
          </a:xfrm>
          <a:prstGeom prst="roundRect">
            <a:avLst>
              <a:gd name="adj" fmla="val 11765"/>
            </a:avLst>
          </a:prstGeom>
          <a:solidFill>
            <a:srgbClr val="E4F7F0"/>
          </a:solidFill>
          <a:ln w="12700">
            <a:solidFill>
              <a:srgbClr val="E4F7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64515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 턴 뒤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83280" y="464515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/ 40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46320" y="4663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D6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완전히 따름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38160" y="2194560"/>
            <a:ext cx="3383280" cy="3246120"/>
          </a:xfrm>
          <a:prstGeom prst="roundRect">
            <a:avLst>
              <a:gd name="adj" fmla="val 2254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0" y="2423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D6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중요했나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412480" y="2880360"/>
            <a:ext cx="2926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9DE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세 번의 시도가 프롬프트를 전부 system 에 넣었다.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9DE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지시가 나빴던 게 아니라 아무 일도 일어나지 않고 있었다.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9DE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문장을 user 턴 끝으로 옮기자 +3.8점.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C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발견 ② thinking 은 끄는 게 아니라 지키는 것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추론 토큰이 최종 답변과 같은 예산을 나눠 쓴다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F1F5F6"/>
          </a:solidFill>
          <a:ln w="12700">
            <a:solidFill>
              <a:srgbClr val="F1F5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659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thinking OFF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잘림 1/40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3017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 응답 0/40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3429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지연 6.4초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40690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B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안전하지만 추론 없음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456432" y="1783080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F1F5F6"/>
          </a:solidFill>
          <a:ln w="12700">
            <a:solidFill>
              <a:srgbClr val="F1F5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85032" y="19659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thinking ON (2048)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85032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잘림 10/40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85032" y="3017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 응답 2/40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85032" y="3429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지연 19.6초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85032" y="40690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7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30% 손상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72784" y="1783080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F1F5F6"/>
          </a:solidFill>
          <a:ln w="12700">
            <a:solidFill>
              <a:srgbClr val="F1F5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01384" y="19659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+ fallback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01384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손상분만 복구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01384" y="3017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01384" y="3429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01384" y="40690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+6.7점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089136" y="1783080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E4F7F0"/>
          </a:solidFill>
          <a:ln w="12700">
            <a:solidFill>
              <a:srgbClr val="E4F7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17736" y="19659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+ 6144 토큰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317736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잘림 0/40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317736" y="3017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 응답 0/40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317736" y="3429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지연 동일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317736" y="40690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D6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손상 0%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0080" y="525780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0120" y="548640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8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max_tokens 2048 은 팀이 스스로 건 제한이었다. 엔드포인트는 8192 까지 받는다 — 확인하지 않은 가정 하나가 22% 의 답변에서 추론을 버리게 하고 있었다.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C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데이터로 기각한 것들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그럴듯했고, 전부 측정에서 졌다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72821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/ RAG 검색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206240" y="1728216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 요구 기준 37개 중 0개 · 질문 96% 영어 · 도구는 한국 특화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350008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29514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프롬프트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06240" y="2295144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이모지 11/40 → 11/40. 행동 변화 없음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916936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86207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외부화 2단 CoT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06240" y="286207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 호출 → 생성 호출. 73.3 → 65.4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483864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34290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Best-of-N 선택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06240" y="342900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61.3 vs 62.9. 무효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050792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399592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초안 3개 합성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206240" y="399592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6승 7패 27동률 · 재현 시 8승 9패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61772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456285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thinking 재시도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206240" y="4562856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회수율 45%, 그러나 0승 2패 18동률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5184648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" y="512978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kNN few-shot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206240" y="5129784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64.2 vs 65.4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5751576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1560" y="569671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학회·지침 인용 금지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206240" y="569671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정확성 44.0 → 35.4. 모호해지며 가점까지 잃음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C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인프라를 먼저 만들었다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 제출 1회 = 30분. 그 속도로는 실험이 불가능했다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38528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4480" y="18013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리더보드 데이터셋 복원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54480" y="224028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B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CoEval 공개 저장소의 val prompt-id 목록 + 공개 HealthBench Main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B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채점과 동일한 301문항 · 기준 3,410개 복원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246120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401568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54480" y="326440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채점식 구현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54480" y="370332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B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Σ(met × points) / Σ(max(0, points)) · 문항 평균 후 [0,1] clip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B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감점 기준 30.5% 포함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709160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864608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72744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축별 진단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54480" y="516636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B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completeness · accuracy · context_awareness 별로 분해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B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어디서 잃는지 문항 단위로 추적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5989320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E4F7F0"/>
          </a:solidFill>
          <a:ln w="12700">
            <a:solidFill>
              <a:srgbClr val="E4F7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610819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결과: 로컬 45.0 vs 리더보드 47.8 — 3점 이내로 캘리브레이션. 제출 없이 A/B 가능해졌다.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C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어디서 잃고 있었나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루브릭 3,410개를 축별로 분해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83080"/>
          <a:ext cx="67665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63840" y="1783080"/>
            <a:ext cx="3657600" cy="4023360"/>
          </a:xfrm>
          <a:prstGeom prst="roundRect">
            <a:avLst>
              <a:gd name="adj" fmla="val 2000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38160" y="20116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D6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배점 분포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138160" y="2514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E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완전성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784080" y="2514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1,450점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138160" y="2926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E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정확성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784080" y="29260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1,382점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138160" y="3337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E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맥락인지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784080" y="3337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711점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138160" y="3749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E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의사소통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784080" y="3749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245점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138160" y="4160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E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지시순응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784080" y="4160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209점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138160" y="47091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FC2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 배점 축(완전성)에서 45%,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FC2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최저 획득 축(맥락인지)에 711점이 남아 있었다.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FC2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감점 기준의 다수가 '누락'을 벌한다.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C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큰 적은 노이즈였다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코드가 같은 점수를 내지 않는다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1F5F6"/>
          </a:solidFill>
          <a:ln w="12700">
            <a:solidFill>
              <a:srgbClr val="F1F5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SHA, 두 번 제출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2514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Trial 48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834640" y="248716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51.61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Trial 49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834640" y="299008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52.88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297680" y="27432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7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차이 1.27점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09360" y="1783080"/>
            <a:ext cx="5212080" cy="2103120"/>
          </a:xfrm>
          <a:prstGeom prst="roundRect">
            <a:avLst>
              <a:gd name="adj" fmla="val 3478"/>
            </a:avLst>
          </a:prstGeom>
          <a:solidFill>
            <a:srgbClr val="F1F5F6"/>
          </a:solidFill>
          <a:ln w="12700">
            <a:solidFill>
              <a:srgbClr val="F1F5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바꾼 판정 방식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29400" y="2487168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B6B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대신 문항별 승·패·동률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B6B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극단값 제거 후 재계산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B6B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설정 3회로 노이즈 바닥 측정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B6B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3점 미만 차이는 채택하지 않음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160520"/>
            <a:ext cx="10881360" cy="1920240"/>
          </a:xfrm>
          <a:prstGeom prst="roundRect">
            <a:avLst>
              <a:gd name="adj" fmla="val 3810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389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D6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 걸러낸 사례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484632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9DE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프롬프트 변경이 평균 +2.5점으로 보였다. 문항별로 보니 한 문항이 만든 착시였고, 그 문항을 빼면 평균이 음수였다.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9DE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원인은 문서 작성 과제였다 — 상담용 지시가 H&amp;P 노트에 관리계획을 덧붙이게 만들어 감점 −8, −9를 동시에 밟았다. 그 문항 하나가 −242%.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C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제출 구조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것은 이게 전부다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2286000"/>
          </a:xfrm>
          <a:prstGeom prst="roundRect">
            <a:avLst>
              <a:gd name="adj" fmla="val 3200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938528"/>
            <a:ext cx="10241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C2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forwarded = messages[:]                              # 평가기 대화 그대로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960120" y="2185416"/>
            <a:ext cx="10241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E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forwarded[-1]["content"] += f"\n\n[{ANSWER_INSTRUCTION}]"   # 지시는 user 턴에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60120" y="2432304"/>
            <a:ext cx="10241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60120" y="2679192"/>
            <a:ext cx="10241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E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call_fm(forwarded, max_tokens=6144,           # 추론 예산 확보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60120" y="2926080"/>
            <a:ext cx="10241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E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temperature=0.0,                      # 사실 정확성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60120" y="3172968"/>
            <a:ext cx="10241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E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enable_thinking=True)                 # 추론 사용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60120" y="3419856"/>
            <a:ext cx="10241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E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damaged(data):                                    # 잘림·빈 응답이면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60120" y="3666744"/>
            <a:ext cx="10241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E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 = call_fm(forwarded, enable_thinking=False) # 추론 없이 재생성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434340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1F5F6"/>
          </a:solidFill>
          <a:ln w="12700">
            <a:solidFill>
              <a:srgbClr val="F1F5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572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 없음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50292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B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분류기·검색·라우팅·다중호출 모두 제거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61688" y="434340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1F5F6"/>
          </a:solidFill>
          <a:ln w="12700">
            <a:solidFill>
              <a:srgbClr val="F1F5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36008" y="4572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실패해도 답한다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36008" y="50292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B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 응답은 0점. 어떤 경우에도 문장을 낸다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83296" y="434340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1F5F6"/>
          </a:solidFill>
          <a:ln w="12700">
            <a:solidFill>
              <a:srgbClr val="F1F5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57616" y="4572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예산을 지킨다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57616" y="50292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B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단위 데드라인으로 타임아웃 0건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다음에도 쓸 방법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2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아니라 측정에 시간을 쓴다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463040" y="17830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가정을 재고 시작한다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212080" y="181051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C2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max_tokens 2048, MCP 40초, system 프롬프트 — 셋 다 사실이 아니었다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85800" y="272491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63040" y="267919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노이즈 바닥을 먼저 잰다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212080" y="2706624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C2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설정 반복 측정 없이는 어떤 개선도 판정할 수 없다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5800" y="3621024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463040" y="357530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평균이 아니라 승패를 본다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212080" y="3602736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C2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문항이 만든 착시를 두 번 걸러냈다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85800" y="4517136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463040" y="447141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기각을 기록한다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212080" y="4498848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C2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팀원이 같은 길을 다시 파지 않는다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85800" y="541324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463040" y="536752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지는 것을 버린다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212080" y="539496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C2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20.4점 중 대부분은 무언가를 뺐을 때 나왔다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73736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52.88</a:t>
            </a:r>
            <a:endParaRPr lang="en-US" sz="7600" dirty="0"/>
          </a:p>
        </p:txBody>
      </p:sp>
      <p:sp>
        <p:nvSpPr>
          <p:cNvPr id="3" name="Text 1"/>
          <p:cNvSpPr/>
          <p:nvPr/>
        </p:nvSpPr>
        <p:spPr>
          <a:xfrm>
            <a:off x="822960" y="31089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HealthBench Consensus · 1위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379476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9FC2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Lunit L2 (30B / 활성 5B MoE) 위에서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9FC2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파인튜닝 없이, 아키텍처 없이, 측정만으로.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5120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5669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A6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유효 제출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566160" y="5120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20.4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566160" y="5669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A6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 상승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09360" y="5120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309360" y="5669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A6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문항 로컬 복원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052560" y="5120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3,410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052560" y="5669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A6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채점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2026-08-22T07:19:00Z</dcterms:created>
  <dcterms:modified xsi:type="dcterms:W3CDTF">2026-08-22T07:19:00Z</dcterms:modified>
</cp:coreProperties>
</file>